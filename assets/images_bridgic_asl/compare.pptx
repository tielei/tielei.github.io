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03400" y="-1007110"/>
            <a:ext cx="14450060" cy="91624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85" y="-313690"/>
            <a:ext cx="3075305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3340" y="-347345"/>
            <a:ext cx="2926715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065" y="-313690"/>
            <a:ext cx="6621145" cy="685800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H="1">
            <a:off x="1600835" y="-306705"/>
            <a:ext cx="60960" cy="6837045"/>
          </a:xfrm>
          <a:prstGeom prst="line">
            <a:avLst/>
          </a:prstGeom>
          <a:ln w="12700" cap="flat" cmpd="sng" algn="ctr">
            <a:solidFill>
              <a:schemeClr val="bg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5542280" y="-347345"/>
            <a:ext cx="60960" cy="6837045"/>
          </a:xfrm>
          <a:prstGeom prst="line">
            <a:avLst/>
          </a:prstGeom>
          <a:ln w="12700" cap="flat" cmpd="sng" algn="ctr">
            <a:solidFill>
              <a:schemeClr val="bg2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-814705" y="-771207"/>
            <a:ext cx="1316990" cy="27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200">
                <a:solidFill>
                  <a:schemeClr val="bg2"/>
                </a:solidFill>
              </a:rPr>
              <a:t>ASL </a:t>
            </a:r>
            <a:r>
              <a:rPr lang="zh-CN" altLang="en-US" sz="1200">
                <a:solidFill>
                  <a:schemeClr val="bg2"/>
                </a:solidFill>
              </a:rPr>
              <a:t>代码</a:t>
            </a:r>
            <a:r>
              <a:rPr lang="zh-CN" altLang="en-US" sz="1200">
                <a:solidFill>
                  <a:schemeClr val="bg2"/>
                </a:solidFill>
              </a:rPr>
              <a:t>示例</a:t>
            </a:r>
            <a:endParaRPr lang="zh-CN" altLang="en-US" sz="1200">
              <a:solidFill>
                <a:schemeClr val="bg2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82570" y="-770572"/>
            <a:ext cx="1624965" cy="27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200">
                <a:solidFill>
                  <a:schemeClr val="bg2"/>
                </a:solidFill>
              </a:rPr>
              <a:t>Core API</a:t>
            </a:r>
            <a:r>
              <a:rPr lang="zh-CN" altLang="en-US" sz="1200">
                <a:solidFill>
                  <a:schemeClr val="bg2"/>
                </a:solidFill>
              </a:rPr>
              <a:t>代码</a:t>
            </a:r>
            <a:r>
              <a:rPr lang="zh-CN" altLang="en-US" sz="1200">
                <a:solidFill>
                  <a:schemeClr val="bg2"/>
                </a:solidFill>
              </a:rPr>
              <a:t>示例</a:t>
            </a:r>
            <a:endParaRPr lang="zh-CN" altLang="en-US" sz="1200">
              <a:solidFill>
                <a:schemeClr val="bg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09560" y="-770572"/>
            <a:ext cx="1624965" cy="27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ctr"/>
            <a:r>
              <a:rPr lang="en-US" altLang="zh-CN" sz="1200">
                <a:solidFill>
                  <a:schemeClr val="bg2"/>
                </a:solidFill>
              </a:rPr>
              <a:t>@worker</a:t>
            </a:r>
            <a:r>
              <a:rPr lang="zh-CN" altLang="en-US" sz="1200">
                <a:solidFill>
                  <a:schemeClr val="bg2"/>
                </a:solidFill>
              </a:rPr>
              <a:t>代码</a:t>
            </a:r>
            <a:r>
              <a:rPr lang="zh-CN" altLang="en-US" sz="1200">
                <a:solidFill>
                  <a:schemeClr val="bg2"/>
                </a:solidFill>
              </a:rPr>
              <a:t>示例</a:t>
            </a:r>
            <a:endParaRPr lang="zh-CN" altLang="en-US" sz="1200">
              <a:solidFill>
                <a:schemeClr val="bg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1323340" y="6670358"/>
            <a:ext cx="2054860" cy="1383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200">
                <a:solidFill>
                  <a:schemeClr val="bg2"/>
                </a:solidFill>
              </a:rPr>
              <a:t>优势：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结构清晰，</a:t>
            </a:r>
            <a:r>
              <a:rPr lang="zh-CN" altLang="en-US" sz="1200">
                <a:solidFill>
                  <a:schemeClr val="bg2"/>
                </a:solidFill>
              </a:rPr>
              <a:t>一目了然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适合表达嵌套</a:t>
            </a:r>
            <a:r>
              <a:rPr lang="zh-CN" altLang="en-US" sz="1200">
                <a:solidFill>
                  <a:schemeClr val="bg2"/>
                </a:solidFill>
              </a:rPr>
              <a:t>结构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可以模块化组织</a:t>
            </a:r>
            <a:r>
              <a:rPr lang="zh-CN" altLang="en-US" sz="1200">
                <a:solidFill>
                  <a:schemeClr val="bg2"/>
                </a:solidFill>
              </a:rPr>
              <a:t>代码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便于组件化</a:t>
            </a:r>
            <a:r>
              <a:rPr lang="zh-CN" altLang="en-US" sz="1200">
                <a:solidFill>
                  <a:schemeClr val="bg2"/>
                </a:solidFill>
              </a:rPr>
              <a:t>复用</a:t>
            </a:r>
            <a:endParaRPr lang="zh-CN" altLang="en-US" sz="1200">
              <a:solidFill>
                <a:schemeClr val="bg2"/>
              </a:solidFill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lang="zh-CN" altLang="en-US" sz="1200">
                <a:solidFill>
                  <a:schemeClr val="bg2"/>
                </a:solidFill>
              </a:rPr>
              <a:t>劣势：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需要学习</a:t>
            </a:r>
            <a:r>
              <a:rPr lang="en-US" altLang="zh-CN" sz="1200">
                <a:solidFill>
                  <a:schemeClr val="bg2"/>
                </a:solidFill>
              </a:rPr>
              <a:t>ASL</a:t>
            </a:r>
            <a:r>
              <a:rPr lang="zh-CN" altLang="en-US" sz="1200">
                <a:solidFill>
                  <a:schemeClr val="bg2"/>
                </a:solidFill>
              </a:rPr>
              <a:t>语法</a:t>
            </a:r>
            <a:endParaRPr lang="zh-CN" altLang="en-US" sz="1200">
              <a:solidFill>
                <a:schemeClr val="bg2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957820" y="6723063"/>
            <a:ext cx="2520950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200">
                <a:solidFill>
                  <a:schemeClr val="bg2"/>
                </a:solidFill>
              </a:rPr>
              <a:t>优势：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在</a:t>
            </a:r>
            <a:r>
              <a:rPr lang="zh-CN" altLang="en-US" sz="1200">
                <a:solidFill>
                  <a:schemeClr val="bg2"/>
                </a:solidFill>
              </a:rPr>
              <a:t>实例方法上就近</a:t>
            </a:r>
            <a:r>
              <a:rPr lang="zh-CN" altLang="en-US" sz="1200">
                <a:solidFill>
                  <a:schemeClr val="bg2"/>
                </a:solidFill>
              </a:rPr>
              <a:t>标注</a:t>
            </a:r>
            <a:endParaRPr lang="zh-CN" altLang="en-US" sz="1200">
              <a:solidFill>
                <a:schemeClr val="bg2"/>
              </a:solidFill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lang="zh-CN" altLang="en-US" sz="1200">
                <a:solidFill>
                  <a:schemeClr val="bg2"/>
                </a:solidFill>
              </a:rPr>
              <a:t>劣势：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只能表达静态</a:t>
            </a:r>
            <a:r>
              <a:rPr lang="zh-CN" altLang="en-US" sz="1200">
                <a:solidFill>
                  <a:schemeClr val="bg2"/>
                </a:solidFill>
              </a:rPr>
              <a:t>结构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天然不适合表达嵌套</a:t>
            </a:r>
            <a:r>
              <a:rPr lang="zh-CN" altLang="en-US" sz="1200">
                <a:solidFill>
                  <a:schemeClr val="bg2"/>
                </a:solidFill>
              </a:rPr>
              <a:t>结构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不利于组件化</a:t>
            </a:r>
            <a:r>
              <a:rPr lang="zh-CN" altLang="en-US" sz="1200">
                <a:solidFill>
                  <a:schemeClr val="bg2"/>
                </a:solidFill>
              </a:rPr>
              <a:t>复用</a:t>
            </a:r>
            <a:endParaRPr lang="zh-CN" altLang="en-US" sz="1200">
              <a:solidFill>
                <a:schemeClr val="bg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40620" y="3469641"/>
            <a:ext cx="162496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200">
                <a:solidFill>
                  <a:schemeClr val="bg2"/>
                </a:solidFill>
              </a:rPr>
              <a:t>实际中不推荐这</a:t>
            </a:r>
            <a:r>
              <a:rPr lang="zh-CN" altLang="en-US" sz="1200">
                <a:solidFill>
                  <a:schemeClr val="bg2"/>
                </a:solidFill>
              </a:rPr>
              <a:t>一做法，丢失了嵌套</a:t>
            </a:r>
            <a:r>
              <a:rPr lang="zh-CN" altLang="en-US" sz="1200">
                <a:solidFill>
                  <a:schemeClr val="bg2"/>
                </a:solidFill>
              </a:rPr>
              <a:t>结构</a:t>
            </a:r>
            <a:endParaRPr lang="zh-CN" altLang="en-US" sz="1200">
              <a:solidFill>
                <a:schemeClr val="bg2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8535035" y="2395855"/>
            <a:ext cx="1782445" cy="1069975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2567940" y="6858636"/>
            <a:ext cx="2054860" cy="10147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algn="l"/>
            <a:r>
              <a:rPr lang="zh-CN" altLang="en-US" sz="1200">
                <a:solidFill>
                  <a:schemeClr val="bg2"/>
                </a:solidFill>
              </a:rPr>
              <a:t>优势：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支持最灵活的动态</a:t>
            </a:r>
            <a:r>
              <a:rPr lang="zh-CN" altLang="en-US" sz="1200">
                <a:solidFill>
                  <a:schemeClr val="bg2"/>
                </a:solidFill>
              </a:rPr>
              <a:t>拓扑</a:t>
            </a:r>
            <a:endParaRPr lang="zh-CN" altLang="en-US" sz="1200">
              <a:solidFill>
                <a:schemeClr val="bg2"/>
              </a:solidFill>
            </a:endParaRPr>
          </a:p>
          <a:p>
            <a:pPr indent="0" algn="l">
              <a:buFont typeface="Arial" panose="020B0604020202090204" pitchFamily="34" charset="0"/>
              <a:buNone/>
            </a:pPr>
            <a:r>
              <a:rPr lang="zh-CN" altLang="en-US" sz="1200">
                <a:solidFill>
                  <a:schemeClr val="bg2"/>
                </a:solidFill>
              </a:rPr>
              <a:t>劣势：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表达结构性</a:t>
            </a:r>
            <a:r>
              <a:rPr lang="zh-CN" altLang="en-US" sz="1200">
                <a:solidFill>
                  <a:schemeClr val="bg2"/>
                </a:solidFill>
              </a:rPr>
              <a:t>信息不直观</a:t>
            </a:r>
            <a:endParaRPr lang="zh-CN" altLang="en-US" sz="1200">
              <a:solidFill>
                <a:schemeClr val="bg2"/>
              </a:solidFill>
            </a:endParaRPr>
          </a:p>
          <a:p>
            <a:pPr marL="171450" indent="-171450" algn="l">
              <a:buFont typeface="Arial" panose="020B0604020202090204" pitchFamily="34" charset="0"/>
              <a:buChar char="•"/>
            </a:pPr>
            <a:r>
              <a:rPr lang="zh-CN" altLang="en-US" sz="1200">
                <a:solidFill>
                  <a:schemeClr val="bg2"/>
                </a:solidFill>
              </a:rPr>
              <a:t>代码</a:t>
            </a:r>
            <a:r>
              <a:rPr lang="zh-CN" altLang="en-US" sz="1200">
                <a:solidFill>
                  <a:schemeClr val="bg2"/>
                </a:solidFill>
              </a:rPr>
              <a:t>冗长</a:t>
            </a:r>
            <a:endParaRPr lang="zh-CN" altLang="en-US" sz="1200">
              <a:solidFill>
                <a:schemeClr val="bg2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表格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charles</cp:lastModifiedBy>
  <cp:revision>172</cp:revision>
  <dcterms:created xsi:type="dcterms:W3CDTF">2025-12-19T07:23:17Z</dcterms:created>
  <dcterms:modified xsi:type="dcterms:W3CDTF">2025-12-19T07:23:17Z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2052-7.4.0.8981</vt:lpwstr>
  </property>
  <property fmtid="{D5CDD505-2E9C-101B-9397-08002B2CF9AE}" pid="3" name="ICV">
    <vt:lpwstr>B0D4C7F0D4EA341603F7446930AF018B_41</vt:lpwstr>
  </property>
</Properties>
</file>